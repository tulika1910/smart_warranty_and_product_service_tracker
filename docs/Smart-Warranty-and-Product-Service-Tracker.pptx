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embeddedFontLst>
    <p:embeddedFont>
      <p:font typeface="DM Sans Thin"/>
      <p:regular r:id="rId201314"/>
    </p:embeddedFont>
    <p:embeddedFont>
      <p:font typeface="DM Sans ExtraLight"/>
      <p:regular r:id="rId201315"/>
    </p:embeddedFont>
    <p:embeddedFont>
      <p:font typeface="DM Sans Light"/>
      <p:regular r:id="rId201316"/>
    </p:embeddedFont>
    <p:embeddedFont>
      <p:font typeface="DM Sans"/>
      <p:regular r:id="rId201317"/>
    </p:embeddedFont>
    <p:embeddedFont>
      <p:font typeface="DM Sans Medium"/>
      <p:regular r:id="rId201318"/>
    </p:embeddedFont>
    <p:embeddedFont>
      <p:font typeface="DM Sans SemiBold"/>
      <p:regular r:id="rId201319"/>
    </p:embeddedFont>
    <p:embeddedFont>
      <p:font typeface="DM Sans Bold"/>
      <p:regular r:id="rId201320"/>
    </p:embeddedFont>
    <p:embeddedFont>
      <p:font typeface="DM Sans ExtraBold"/>
      <p:regular r:id="rId201321"/>
    </p:embeddedFont>
    <p:embeddedFont>
      <p:font typeface="DM Sans Black"/>
      <p:regular r:id="rId201322"/>
    </p:embeddedFont>
    <p:embeddedFont>
      <p:font typeface="Inter Medium"/>
      <p:regular r:id="rId201323"/>
    </p:embeddedFont>
    <p:embeddedFont>
      <p:font typeface="Inter Light"/>
      <p:regular r:id="rId201324"/>
    </p:embeddedFont>
    <p:embeddedFont>
      <p:font typeface="Inter Thin"/>
      <p:regular r:id="rId201325"/>
    </p:embeddedFont>
    <p:embeddedFont>
      <p:font typeface="Inter ExtraLight"/>
      <p:regular r:id="rId201326"/>
    </p:embeddedFont>
    <p:embeddedFont>
      <p:font typeface="Inter SemiBold"/>
      <p:regular r:id="rId201327"/>
    </p:embeddedFont>
    <p:embeddedFont>
      <p:font typeface="Inter Bold"/>
      <p:regular r:id="rId201328"/>
    </p:embeddedFont>
    <p:embeddedFont>
      <p:font typeface="Inter ExtraBold"/>
      <p:regular r:id="rId201329"/>
    </p:embeddedFont>
    <p:embeddedFont>
      <p:font typeface="Inter"/>
      <p:regular r:id="rId201330"/>
    </p:embeddedFont>
    <p:embeddedFont>
      <p:font typeface="Inter Black"/>
      <p:regular r:id="rId2013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Relationship Id="rId201335" Target="fonts/20133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Tulika1910/Smart_Warranty_and_Product_Service_Tracker/tree/main/Capstone_Project" TargetMode="External"/><Relationship Id="rId1" Type="http://schemas.openxmlformats.org/officeDocument/2006/relationships/image" Target="../media/image-1-1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image" Target="../media/image-2-2.png"/><Relationship Id="rId9" Type="http://schemas.openxmlformats.org/officeDocument/2006/relationships/image" Target="../media/image-2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image" Target="../media/image-6-8.png"/><Relationship Id="rId9" Type="http://schemas.openxmlformats.org/officeDocument/2006/relationships/image" Target="../media/image-6-9.svg"/><Relationship Id="rId10" Type="http://schemas.openxmlformats.org/officeDocument/2006/relationships/image" Target="../media/image-6-10.png"/><Relationship Id="rId11" Type="http://schemas.openxmlformats.org/officeDocument/2006/relationships/image" Target="../media/image-6-11.svg"/><Relationship Id="rId12" Type="http://schemas.openxmlformats.org/officeDocument/2006/relationships/image" Target="../media/image-6-12.png"/><Relationship Id="rId13" Type="http://schemas.openxmlformats.org/officeDocument/2006/relationships/image" Target="../media/image-6-13.svg"/><Relationship Id="rId14" Type="http://schemas.openxmlformats.org/officeDocument/2006/relationships/image" Target="../media/image-6-14.png"/><Relationship Id="rId15" Type="http://schemas.openxmlformats.org/officeDocument/2006/relationships/image" Target="../media/image-6-15.svg"/><Relationship Id="rId16" Type="http://schemas.openxmlformats.org/officeDocument/2006/relationships/image" Target="../media/image-6-16.png"/><Relationship Id="rId17" Type="http://schemas.openxmlformats.org/officeDocument/2006/relationships/image" Target="../media/image-6-17.svg"/><Relationship Id="rId18" Type="http://schemas.openxmlformats.org/officeDocument/2006/relationships/image" Target="../media/image-6-18.png"/><Relationship Id="rId19" Type="http://schemas.openxmlformats.org/officeDocument/2006/relationships/image" Target="../media/image-6-19.svg"/><Relationship Id="rId20" Type="http://schemas.openxmlformats.org/officeDocument/2006/relationships/slideLayout" Target="../slideLayouts/slideLayout2.xml"/><Relationship Id="rId2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image" Target="../media/image-7-3.jpeg"/><Relationship Id="rId4" Type="http://schemas.openxmlformats.org/officeDocument/2006/relationships/image" Target="../media/image-7-4.jpe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jpeg"/><Relationship Id="rId8" Type="http://schemas.openxmlformats.org/officeDocument/2006/relationships/image" Target="../media/image-7-8.jpe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1.png"/><Relationship Id="rId4" Type="http://schemas.openxmlformats.org/officeDocument/2006/relationships/image" Target="../media/image-9-2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5.png"/><Relationship Id="rId8" Type="http://schemas.openxmlformats.org/officeDocument/2006/relationships/image" Target="../media/image-9-6.svg"/><Relationship Id="rId9" Type="http://schemas.openxmlformats.org/officeDocument/2006/relationships/image" Target="../media/image-9-1.png"/><Relationship Id="rId10" Type="http://schemas.openxmlformats.org/officeDocument/2006/relationships/image" Target="../media/image-9-2.svg"/><Relationship Id="rId11" Type="http://schemas.openxmlformats.org/officeDocument/2006/relationships/image" Target="../media/image-9-1.png"/><Relationship Id="rId12" Type="http://schemas.openxmlformats.org/officeDocument/2006/relationships/image" Target="../media/image-9-2.svg"/><Relationship Id="rId13" Type="http://schemas.openxmlformats.org/officeDocument/2006/relationships/image" Target="../media/image-9-5.png"/><Relationship Id="rId14" Type="http://schemas.openxmlformats.org/officeDocument/2006/relationships/image" Target="../media/image-9-6.svg"/><Relationship Id="rId15" Type="http://schemas.openxmlformats.org/officeDocument/2006/relationships/image" Target="../media/image-9-5.png"/><Relationship Id="rId16" Type="http://schemas.openxmlformats.org/officeDocument/2006/relationships/image" Target="../media/image-9-6.sv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Tulika1910/Smart_Warranty_and_Product_Service_Tracker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11435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Smart Warranty &amp; Product Service Tracker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212925"/>
            <a:ext cx="4722763" cy="839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i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IIT Mandi Capstone Project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b="1" u="sng" dirty="0">
                <a:solidFill>
                  <a:srgbClr val="AC9EF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https://github.com/Tulika1910/Smart_Warranty_and_Product_Service_Tracker/tree/main/Capstone_Project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212306"/>
            <a:ext cx="4722763" cy="816843"/>
          </a:xfrm>
          <a:prstGeom prst="roundRect">
            <a:avLst>
              <a:gd name="adj" fmla="val 2603"/>
            </a:avLst>
          </a:prstGeom>
          <a:solidFill>
            <a:srgbClr val="4C5052"/>
          </a:solidFill>
          <a:ln/>
        </p:spPr>
      </p:sp>
      <p:sp>
        <p:nvSpPr>
          <p:cNvPr id="6" name="Text 3"/>
          <p:cNvSpPr/>
          <p:nvPr/>
        </p:nvSpPr>
        <p:spPr>
          <a:xfrm>
            <a:off x="637877" y="3354065"/>
            <a:ext cx="44392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Team Members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37877" y="3660577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Tulika, Tisya, Ritvik, and Bhavya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 Warranty Management Problem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682154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Millions of consumers lose track of warranties every year — leading to missed service claims and unnecessary repair costs. Without a centralized system, warranty documents become scattered, forgotten, or lost entirely.</a:t>
            </a:r>
            <a:endParaRPr lang="en-US" sz="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846832"/>
            <a:ext cx="3989412" cy="39894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63232" y="2500536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Why This Matters</a:t>
            </a:r>
            <a:endParaRPr lang="en-US" sz="6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63232" y="2651075"/>
            <a:ext cx="1976958" cy="24579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81699" y="2731443"/>
            <a:ext cx="1778124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Warranty cards are physical and easily lost</a:t>
            </a:r>
            <a:endParaRPr lang="en-US" sz="5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75611" y="2651075"/>
            <a:ext cx="1977033" cy="24579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794078" y="2731443"/>
            <a:ext cx="1778198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dates go untracked without reminders</a:t>
            </a:r>
            <a:endParaRPr lang="en-US" sz="5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63232" y="2932286"/>
            <a:ext cx="1976958" cy="24579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781699" y="3012653"/>
            <a:ext cx="1778124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centralized view of all owned products</a:t>
            </a:r>
            <a:endParaRPr lang="en-US" sz="5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75611" y="2932286"/>
            <a:ext cx="1977033" cy="24579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794078" y="3012653"/>
            <a:ext cx="1778198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Missed claims result in avoidable expenses</a:t>
            </a:r>
            <a:endParaRPr lang="en-US" sz="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Project Inputs &amp; Reference Sources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682154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draws from multiple structured and user-provided data sources to enable intelligent warranty extraction and tracking.</a:t>
            </a:r>
            <a:endParaRPr lang="en-US" sz="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846832"/>
            <a:ext cx="3989412" cy="39894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63232" y="2146697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Data Sources</a:t>
            </a:r>
            <a:endParaRPr lang="en-US" sz="6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63232" y="2297237"/>
            <a:ext cx="141759" cy="1417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849267" y="2321570"/>
            <a:ext cx="380337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GitHub Repository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4849267" y="2467719"/>
            <a:ext cx="3803377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source code, README, and project documentation</a:t>
            </a:r>
            <a:endParaRPr lang="en-US" sz="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3232" y="2623617"/>
            <a:ext cx="141759" cy="14175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849267" y="2647950"/>
            <a:ext cx="380337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User-Uploaded Bills</a:t>
            </a:r>
            <a:endParaRPr lang="en-US" sz="650" dirty="0"/>
          </a:p>
        </p:txBody>
      </p:sp>
      <p:sp>
        <p:nvSpPr>
          <p:cNvPr id="11" name="Text 6"/>
          <p:cNvSpPr/>
          <p:nvPr/>
        </p:nvSpPr>
        <p:spPr>
          <a:xfrm>
            <a:off x="4849267" y="2794099"/>
            <a:ext cx="3803377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Purchase receipts and invoices submitted by users</a:t>
            </a:r>
            <a:endParaRPr lang="en-US" sz="5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63232" y="2949997"/>
            <a:ext cx="141759" cy="14175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849267" y="2974330"/>
            <a:ext cx="380337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Product Images &amp; OCR</a:t>
            </a:r>
            <a:endParaRPr lang="en-US" sz="650" dirty="0"/>
          </a:p>
        </p:txBody>
      </p:sp>
      <p:sp>
        <p:nvSpPr>
          <p:cNvPr id="14" name="Text 8"/>
          <p:cNvSpPr/>
          <p:nvPr/>
        </p:nvSpPr>
        <p:spPr>
          <a:xfrm>
            <a:off x="4849267" y="3120479"/>
            <a:ext cx="3803377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Scanned documents processed through OCR pipeline</a:t>
            </a:r>
            <a:endParaRPr lang="en-US" sz="5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63232" y="3276377"/>
            <a:ext cx="141759" cy="14175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849267" y="3300710"/>
            <a:ext cx="380337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Database Records</a:t>
            </a:r>
            <a:endParaRPr lang="en-US" sz="650" dirty="0"/>
          </a:p>
        </p:txBody>
      </p:sp>
      <p:sp>
        <p:nvSpPr>
          <p:cNvPr id="17" name="Text 10"/>
          <p:cNvSpPr/>
          <p:nvPr/>
        </p:nvSpPr>
        <p:spPr>
          <a:xfrm>
            <a:off x="4849267" y="3446859"/>
            <a:ext cx="3803377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SQLite/MySQL storage for all warranty data</a:t>
            </a:r>
            <a:endParaRPr lang="en-US" sz="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7916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End-to-End System Workflow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05669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login to notification — every step is automated, secure, and user-friendly.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1691953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96119" y="1913855"/>
            <a:ext cx="2622724" cy="19050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6" name="Text 4"/>
          <p:cNvSpPr/>
          <p:nvPr/>
        </p:nvSpPr>
        <p:spPr>
          <a:xfrm>
            <a:off x="496119" y="2022797"/>
            <a:ext cx="26227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Login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260601" y="1691953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60601" y="1913855"/>
            <a:ext cx="2622724" cy="19050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9" name="Text 7"/>
          <p:cNvSpPr/>
          <p:nvPr/>
        </p:nvSpPr>
        <p:spPr>
          <a:xfrm>
            <a:off x="3260601" y="2022797"/>
            <a:ext cx="26227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Add Product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025083" y="1691953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25083" y="1913855"/>
            <a:ext cx="2622724" cy="19050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12" name="Text 10"/>
          <p:cNvSpPr/>
          <p:nvPr/>
        </p:nvSpPr>
        <p:spPr>
          <a:xfrm>
            <a:off x="6025083" y="2022797"/>
            <a:ext cx="26227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Upload Warranty Document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96119" y="2492276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6119" y="2714179"/>
            <a:ext cx="2622724" cy="19050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15" name="Text 13"/>
          <p:cNvSpPr/>
          <p:nvPr/>
        </p:nvSpPr>
        <p:spPr>
          <a:xfrm>
            <a:off x="496119" y="2823121"/>
            <a:ext cx="26227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Store Product Information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260601" y="2492276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60601" y="2714179"/>
            <a:ext cx="2622724" cy="19050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18" name="Text 16"/>
          <p:cNvSpPr/>
          <p:nvPr/>
        </p:nvSpPr>
        <p:spPr>
          <a:xfrm>
            <a:off x="3260601" y="2823121"/>
            <a:ext cx="26227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Database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025083" y="2492276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06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25083" y="2714179"/>
            <a:ext cx="2622724" cy="19050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21" name="Text 19"/>
          <p:cNvSpPr/>
          <p:nvPr/>
        </p:nvSpPr>
        <p:spPr>
          <a:xfrm>
            <a:off x="6025083" y="2823121"/>
            <a:ext cx="26227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Dashboard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96119" y="3292599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07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6119" y="3514502"/>
            <a:ext cx="2622724" cy="19050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24" name="Text 22"/>
          <p:cNvSpPr/>
          <p:nvPr/>
        </p:nvSpPr>
        <p:spPr>
          <a:xfrm>
            <a:off x="496119" y="3623444"/>
            <a:ext cx="26227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Warranty Tracking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260601" y="3292599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08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60601" y="3514502"/>
            <a:ext cx="2622724" cy="19050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27" name="Text 25"/>
          <p:cNvSpPr/>
          <p:nvPr/>
        </p:nvSpPr>
        <p:spPr>
          <a:xfrm>
            <a:off x="3260601" y="3623444"/>
            <a:ext cx="26227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Service Reminder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025083" y="3292599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09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25083" y="3514502"/>
            <a:ext cx="2622724" cy="19050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30" name="Text 28"/>
          <p:cNvSpPr/>
          <p:nvPr/>
        </p:nvSpPr>
        <p:spPr>
          <a:xfrm>
            <a:off x="6025083" y="3623444"/>
            <a:ext cx="26227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Chatbot Assistance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96119" y="4110633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pipeline processes user-uploaded bills through OCR, extracts key warranty fields automatically, persists data to the database, and triggers timely service reminders — all without manual data entry.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6161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AI &amp; Software Innovation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388120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919660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AI Chatbot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226171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Natural language processing for warranty queries and product assistance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1388120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1919660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Streamlit Frontend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2226171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web framework for building the interactive user interface and dashboard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8747" y="1388120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1919660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Database Management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2226171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SQLite/MySQL storing warranty, product, and user data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190131"/>
            <a:ext cx="354360" cy="3543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6119" y="3721671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User Authentication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96119" y="4028182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login with session management and access control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72433" y="3190131"/>
            <a:ext cx="354360" cy="35436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272433" y="3721671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Warranty Tracking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3272433" y="4028182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monitoring of warranty expiration dates</a:t>
            </a:r>
            <a:endParaRPr lang="en-US" sz="11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048747" y="3190131"/>
            <a:ext cx="354360" cy="35436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048747" y="3721671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Service Reminder System</a:t>
            </a:r>
            <a:endParaRPr lang="en-US" sz="1350" dirty="0"/>
          </a:p>
        </p:txBody>
      </p:sp>
      <p:sp>
        <p:nvSpPr>
          <p:cNvPr id="20" name="Text 12"/>
          <p:cNvSpPr/>
          <p:nvPr/>
        </p:nvSpPr>
        <p:spPr>
          <a:xfrm>
            <a:off x="6048747" y="4028182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alerts for upcoming service dates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8745"/>
            <a:ext cx="8151763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Tech Stack &amp; Dependencies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496119" y="970285"/>
            <a:ext cx="268448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Core Libraries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226046"/>
            <a:ext cx="2684487" cy="14435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2759273"/>
            <a:ext cx="3141687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libraries and APIs powering the application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444776" y="970285"/>
            <a:ext cx="5207794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Key Technologies Used</a:t>
            </a:r>
            <a:endParaRPr lang="en-US" sz="1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44776" y="1226046"/>
            <a:ext cx="212601" cy="21260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757017" y="1262583"/>
            <a:ext cx="2241798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Gemini API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3757017" y="1508373"/>
            <a:ext cx="2241798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Google's generative AI for chatbot functionality</a:t>
            </a:r>
            <a:endParaRPr lang="en-US" sz="8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8456" y="1226046"/>
            <a:ext cx="212601" cy="21260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410697" y="1262583"/>
            <a:ext cx="2241872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Firebase Authentication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6410697" y="1508373"/>
            <a:ext cx="224187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user login and session management</a:t>
            </a:r>
            <a:endParaRPr lang="en-US" sz="8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44776" y="1965499"/>
            <a:ext cx="212601" cy="21260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757017" y="2002036"/>
            <a:ext cx="2241798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3757017" y="2247826"/>
            <a:ext cx="2241798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web framework for building the user interface</a:t>
            </a:r>
            <a:endParaRPr lang="en-US" sz="8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98456" y="1965499"/>
            <a:ext cx="212601" cy="212601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410697" y="2002036"/>
            <a:ext cx="2241872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Pandas</a:t>
            </a:r>
            <a:endParaRPr lang="en-US" sz="1000" dirty="0"/>
          </a:p>
        </p:txBody>
      </p:sp>
      <p:sp>
        <p:nvSpPr>
          <p:cNvPr id="18" name="Text 11"/>
          <p:cNvSpPr/>
          <p:nvPr/>
        </p:nvSpPr>
        <p:spPr>
          <a:xfrm>
            <a:off x="6410697" y="2247826"/>
            <a:ext cx="224187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manipulation and analysis capabilities</a:t>
            </a:r>
            <a:endParaRPr lang="en-US" sz="8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444776" y="2704951"/>
            <a:ext cx="212601" cy="212601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3757017" y="2741488"/>
            <a:ext cx="2241798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Plotly Express</a:t>
            </a:r>
            <a:endParaRPr lang="en-US" sz="1000" dirty="0"/>
          </a:p>
        </p:txBody>
      </p:sp>
      <p:sp>
        <p:nvSpPr>
          <p:cNvPr id="21" name="Text 13"/>
          <p:cNvSpPr/>
          <p:nvPr/>
        </p:nvSpPr>
        <p:spPr>
          <a:xfrm>
            <a:off x="3757017" y="2987278"/>
            <a:ext cx="2241798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visualizations for dashboard insights</a:t>
            </a:r>
            <a:endParaRPr lang="en-US" sz="8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098456" y="2704951"/>
            <a:ext cx="212601" cy="212601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410697" y="2741488"/>
            <a:ext cx="2241872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SQLAlchemy</a:t>
            </a:r>
            <a:endParaRPr lang="en-US" sz="1000" dirty="0"/>
          </a:p>
        </p:txBody>
      </p:sp>
      <p:sp>
        <p:nvSpPr>
          <p:cNvPr id="24" name="Text 15"/>
          <p:cNvSpPr/>
          <p:nvPr/>
        </p:nvSpPr>
        <p:spPr>
          <a:xfrm>
            <a:off x="6410697" y="2987278"/>
            <a:ext cx="2241872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Object-Relational Mapper (ORM) for data persistence</a:t>
            </a:r>
            <a:endParaRPr lang="en-US" sz="8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444776" y="3444404"/>
            <a:ext cx="212601" cy="212601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3757017" y="3480941"/>
            <a:ext cx="2241798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PIL/Pillow</a:t>
            </a:r>
            <a:endParaRPr lang="en-US" sz="1000" dirty="0"/>
          </a:p>
        </p:txBody>
      </p:sp>
      <p:sp>
        <p:nvSpPr>
          <p:cNvPr id="27" name="Text 17"/>
          <p:cNvSpPr/>
          <p:nvPr/>
        </p:nvSpPr>
        <p:spPr>
          <a:xfrm>
            <a:off x="3757017" y="3726731"/>
            <a:ext cx="2241798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 processing library for handling product photos and scans</a:t>
            </a:r>
            <a:endParaRPr lang="en-US" sz="800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098456" y="3444404"/>
            <a:ext cx="212601" cy="212601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6410697" y="3480941"/>
            <a:ext cx="2241872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PyMuPDF</a:t>
            </a:r>
            <a:endParaRPr lang="en-US" sz="1000" dirty="0"/>
          </a:p>
        </p:txBody>
      </p:sp>
      <p:sp>
        <p:nvSpPr>
          <p:cNvPr id="30" name="Text 19"/>
          <p:cNvSpPr/>
          <p:nvPr/>
        </p:nvSpPr>
        <p:spPr>
          <a:xfrm>
            <a:off x="6410697" y="3726731"/>
            <a:ext cx="2241872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Efficient PDF handling for user-uploaded bills and documents</a:t>
            </a:r>
            <a:endParaRPr lang="en-US" sz="800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444776" y="4183856"/>
            <a:ext cx="212601" cy="212601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3757017" y="4220394"/>
            <a:ext cx="2241798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Streamlit Mic Recorder</a:t>
            </a:r>
            <a:endParaRPr lang="en-US" sz="1000" dirty="0"/>
          </a:p>
        </p:txBody>
      </p:sp>
      <p:sp>
        <p:nvSpPr>
          <p:cNvPr id="33" name="Text 21"/>
          <p:cNvSpPr/>
          <p:nvPr/>
        </p:nvSpPr>
        <p:spPr>
          <a:xfrm>
            <a:off x="3757017" y="4466183"/>
            <a:ext cx="224179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Enables voice input for the AI chatbot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0823"/>
            <a:ext cx="8151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Prototype Screenshots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96119" y="1025128"/>
            <a:ext cx="860896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screens from the live application demonstrating the complete user journey from authentication to warranty management.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881" y="1435150"/>
            <a:ext cx="1546175" cy="1546175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9822" y="1435150"/>
            <a:ext cx="1546250" cy="154625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8838" y="1435150"/>
            <a:ext cx="1546250" cy="154625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7854" y="1435150"/>
            <a:ext cx="1546250" cy="1546250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6869" y="1435150"/>
            <a:ext cx="1546250" cy="1546250"/>
          </a:xfrm>
          <a:prstGeom prst="rect">
            <a:avLst/>
          </a:prstGeom>
        </p:spPr>
      </p:pic>
      <p:pic>
        <p:nvPicPr>
          <p:cNvPr id="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881" y="3084165"/>
            <a:ext cx="1546175" cy="1546175"/>
          </a:xfrm>
          <a:prstGeom prst="rect">
            <a:avLst/>
          </a:prstGeom>
        </p:spPr>
      </p:pic>
      <p:pic>
        <p:nvPicPr>
          <p:cNvPr id="1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49822" y="3084165"/>
            <a:ext cx="1546250" cy="1546250"/>
          </a:xfrm>
          <a:prstGeom prst="rect">
            <a:avLst/>
          </a:prstGeom>
        </p:spPr>
      </p:pic>
      <p:pic>
        <p:nvPicPr>
          <p:cNvPr id="1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98838" y="3084165"/>
            <a:ext cx="1546250" cy="15462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5055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Results &amp; Sample Outputs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950244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Dashboard &amp; Tracking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96119" y="2384301"/>
            <a:ext cx="2622724" cy="1308571"/>
          </a:xfrm>
          <a:prstGeom prst="roundRect">
            <a:avLst>
              <a:gd name="adj" fmla="val 1625"/>
            </a:avLst>
          </a:prstGeom>
          <a:solidFill>
            <a:srgbClr val="2D3133"/>
          </a:solidFill>
          <a:ln w="19050">
            <a:solidFill>
              <a:srgbClr val="6569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6927" y="2545110"/>
            <a:ext cx="2301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Product List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56927" y="2851621"/>
            <a:ext cx="23011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registered products displayed with warranty status badges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60601" y="2384301"/>
            <a:ext cx="2622724" cy="1308571"/>
          </a:xfrm>
          <a:prstGeom prst="roundRect">
            <a:avLst>
              <a:gd name="adj" fmla="val 1625"/>
            </a:avLst>
          </a:prstGeom>
          <a:solidFill>
            <a:srgbClr val="2D3133"/>
          </a:solidFill>
          <a:ln w="19050">
            <a:solidFill>
              <a:srgbClr val="6569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1410" y="2545110"/>
            <a:ext cx="2301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Warranty Details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421410" y="2851621"/>
            <a:ext cx="23011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Click-through view showing purchase date, expiry, and vendor info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25083" y="2384301"/>
            <a:ext cx="2622724" cy="1308571"/>
          </a:xfrm>
          <a:prstGeom prst="roundRect">
            <a:avLst>
              <a:gd name="adj" fmla="val 1625"/>
            </a:avLst>
          </a:prstGeom>
          <a:solidFill>
            <a:srgbClr val="2D3133"/>
          </a:solidFill>
          <a:ln w="19050">
            <a:solidFill>
              <a:srgbClr val="6569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85892" y="2545110"/>
            <a:ext cx="2301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Service Reminders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185892" y="2851621"/>
            <a:ext cx="23011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alerts triggered before warranty expiration dates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36079"/>
            <a:ext cx="815176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Limitations &amp; Responsible Use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96119" y="1315566"/>
            <a:ext cx="3905696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⚠️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Current Limitations</a:t>
            </a:r>
            <a:endParaRPr lang="en-US" sz="1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688083"/>
            <a:ext cx="1884164" cy="142443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0895" y="1846659"/>
            <a:ext cx="1490811" cy="1107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OCR Quality Dependency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Extraction accuracy depends on bill image clarity and format</a:t>
            </a:r>
            <a:endParaRPr lang="en-US" sz="10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17651" y="1688083"/>
            <a:ext cx="1884164" cy="142443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52427" y="1846659"/>
            <a:ext cx="1490811" cy="1107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Manual Verification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Some fields may require user confirmation post-extraction</a:t>
            </a:r>
            <a:endParaRPr lang="en-US" sz="10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249885"/>
            <a:ext cx="1884164" cy="120297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30895" y="3408462"/>
            <a:ext cx="1490811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Format Constraints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Limited support for non-standard bill layouts</a:t>
            </a:r>
            <a:endParaRPr lang="en-US" sz="10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17651" y="3249885"/>
            <a:ext cx="1884164" cy="120297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752427" y="3408462"/>
            <a:ext cx="1490811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Internet Dependency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Cloud-based OCR requires active connectivity</a:t>
            </a:r>
            <a:endParaRPr lang="en-US" sz="1050" dirty="0"/>
          </a:p>
        </p:txBody>
      </p:sp>
      <p:sp>
        <p:nvSpPr>
          <p:cNvPr id="12" name="Text 6"/>
          <p:cNvSpPr/>
          <p:nvPr/>
        </p:nvSpPr>
        <p:spPr>
          <a:xfrm>
            <a:off x="4746947" y="1315566"/>
            <a:ext cx="3905696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🛡️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Responsible Use Guidelines</a:t>
            </a:r>
            <a:endParaRPr lang="en-US" sz="13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46947" y="1688083"/>
            <a:ext cx="1884164" cy="142443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981724" y="1846659"/>
            <a:ext cx="1490811" cy="1107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 Privacy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Personal purchase data must be protected and never shared</a:t>
            </a:r>
            <a:endParaRPr lang="en-US" sz="105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768480" y="1688083"/>
            <a:ext cx="1884164" cy="1424434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7003256" y="1846659"/>
            <a:ext cx="1490811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Secure Storage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Warranty documents should be encrypted at rest</a:t>
            </a:r>
            <a:endParaRPr lang="en-US" sz="105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746947" y="3249885"/>
            <a:ext cx="1884164" cy="1202978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4981724" y="3408462"/>
            <a:ext cx="1490811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Access Control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Strong authentication prevents unauthorized document access</a:t>
            </a:r>
            <a:endParaRPr lang="en-US" sz="1050" dirty="0"/>
          </a:p>
        </p:txBody>
      </p:sp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768480" y="3249885"/>
            <a:ext cx="1884164" cy="1202978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7003256" y="3408462"/>
            <a:ext cx="1490811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Ethical Use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Uploaded documents must not be misused or redistributed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17016"/>
            <a:ext cx="472276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Future Roadmap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645616" y="1019175"/>
            <a:ext cx="14288" cy="3707309"/>
          </a:xfrm>
          <a:prstGeom prst="roundRect">
            <a:avLst>
              <a:gd name="adj" fmla="val 139530"/>
            </a:avLst>
          </a:prstGeom>
          <a:solidFill>
            <a:srgbClr val="65696B"/>
          </a:solidFill>
          <a:ln/>
        </p:spPr>
      </p:sp>
      <p:sp>
        <p:nvSpPr>
          <p:cNvPr id="5" name="Shape 2"/>
          <p:cNvSpPr/>
          <p:nvPr/>
        </p:nvSpPr>
        <p:spPr>
          <a:xfrm>
            <a:off x="780827" y="1161529"/>
            <a:ext cx="398711" cy="14288"/>
          </a:xfrm>
          <a:prstGeom prst="roundRect">
            <a:avLst>
              <a:gd name="adj" fmla="val 139530"/>
            </a:avLst>
          </a:prstGeom>
          <a:solidFill>
            <a:srgbClr val="65696B"/>
          </a:solidFill>
          <a:ln/>
        </p:spPr>
      </p:sp>
      <p:sp>
        <p:nvSpPr>
          <p:cNvPr id="6" name="Shape 3"/>
          <p:cNvSpPr/>
          <p:nvPr/>
        </p:nvSpPr>
        <p:spPr>
          <a:xfrm>
            <a:off x="496119" y="1019175"/>
            <a:ext cx="298996" cy="298996"/>
          </a:xfrm>
          <a:prstGeom prst="roundRect">
            <a:avLst>
              <a:gd name="adj" fmla="val 6668"/>
            </a:avLst>
          </a:prstGeom>
          <a:solidFill>
            <a:srgbClr val="4C5052"/>
          </a:solidFill>
          <a:ln/>
        </p:spPr>
      </p:sp>
      <p:sp>
        <p:nvSpPr>
          <p:cNvPr id="7" name="Text 4"/>
          <p:cNvSpPr/>
          <p:nvPr/>
        </p:nvSpPr>
        <p:spPr>
          <a:xfrm>
            <a:off x="545939" y="1044104"/>
            <a:ext cx="19935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310134" y="1064791"/>
            <a:ext cx="3908747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Phase 1 — Core Enhancements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310134" y="1347192"/>
            <a:ext cx="3908747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Improved OCR accuracy, barcode scanner integration, QR code support for product registration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80827" y="2150641"/>
            <a:ext cx="398711" cy="14288"/>
          </a:xfrm>
          <a:prstGeom prst="roundRect">
            <a:avLst>
              <a:gd name="adj" fmla="val 139530"/>
            </a:avLst>
          </a:prstGeom>
          <a:solidFill>
            <a:srgbClr val="65696B"/>
          </a:solidFill>
          <a:ln/>
        </p:spPr>
      </p:sp>
      <p:sp>
        <p:nvSpPr>
          <p:cNvPr id="11" name="Shape 8"/>
          <p:cNvSpPr/>
          <p:nvPr/>
        </p:nvSpPr>
        <p:spPr>
          <a:xfrm>
            <a:off x="496119" y="2008287"/>
            <a:ext cx="298996" cy="298996"/>
          </a:xfrm>
          <a:prstGeom prst="roundRect">
            <a:avLst>
              <a:gd name="adj" fmla="val 6668"/>
            </a:avLst>
          </a:prstGeom>
          <a:solidFill>
            <a:srgbClr val="4C5052"/>
          </a:solidFill>
          <a:ln/>
        </p:spPr>
      </p:sp>
      <p:sp>
        <p:nvSpPr>
          <p:cNvPr id="12" name="Text 9"/>
          <p:cNvSpPr/>
          <p:nvPr/>
        </p:nvSpPr>
        <p:spPr>
          <a:xfrm>
            <a:off x="545939" y="2033215"/>
            <a:ext cx="19935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1310134" y="2053903"/>
            <a:ext cx="3908747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Phase 2 — Mobile &amp; Cloud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310134" y="2336304"/>
            <a:ext cx="3908747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Cross-platform mobile app (iOS/Android) with cloud synchronization for multi-device access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80827" y="3139753"/>
            <a:ext cx="398711" cy="14288"/>
          </a:xfrm>
          <a:prstGeom prst="roundRect">
            <a:avLst>
              <a:gd name="adj" fmla="val 139530"/>
            </a:avLst>
          </a:prstGeom>
          <a:solidFill>
            <a:srgbClr val="65696B"/>
          </a:solidFill>
          <a:ln/>
        </p:spPr>
      </p:sp>
      <p:sp>
        <p:nvSpPr>
          <p:cNvPr id="16" name="Shape 13"/>
          <p:cNvSpPr/>
          <p:nvPr/>
        </p:nvSpPr>
        <p:spPr>
          <a:xfrm>
            <a:off x="496119" y="2997398"/>
            <a:ext cx="298996" cy="298996"/>
          </a:xfrm>
          <a:prstGeom prst="roundRect">
            <a:avLst>
              <a:gd name="adj" fmla="val 6668"/>
            </a:avLst>
          </a:prstGeom>
          <a:solidFill>
            <a:srgbClr val="4C5052"/>
          </a:solidFill>
          <a:ln/>
        </p:spPr>
      </p:sp>
      <p:sp>
        <p:nvSpPr>
          <p:cNvPr id="17" name="Text 14"/>
          <p:cNvSpPr/>
          <p:nvPr/>
        </p:nvSpPr>
        <p:spPr>
          <a:xfrm>
            <a:off x="545939" y="3022327"/>
            <a:ext cx="19935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1310134" y="3043014"/>
            <a:ext cx="3908747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Phase 3 — AI Features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310134" y="3325416"/>
            <a:ext cx="3908747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chat assistant for warranty queries, predictive maintenance alerts, and smart recommendations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80827" y="4128864"/>
            <a:ext cx="398711" cy="14288"/>
          </a:xfrm>
          <a:prstGeom prst="roundRect">
            <a:avLst>
              <a:gd name="adj" fmla="val 139530"/>
            </a:avLst>
          </a:prstGeom>
          <a:solidFill>
            <a:srgbClr val="65696B"/>
          </a:solidFill>
          <a:ln/>
        </p:spPr>
      </p:sp>
      <p:sp>
        <p:nvSpPr>
          <p:cNvPr id="21" name="Shape 18"/>
          <p:cNvSpPr/>
          <p:nvPr/>
        </p:nvSpPr>
        <p:spPr>
          <a:xfrm>
            <a:off x="496119" y="3986510"/>
            <a:ext cx="298996" cy="298996"/>
          </a:xfrm>
          <a:prstGeom prst="roundRect">
            <a:avLst>
              <a:gd name="adj" fmla="val 6668"/>
            </a:avLst>
          </a:prstGeom>
          <a:solidFill>
            <a:srgbClr val="4C5052"/>
          </a:solidFill>
          <a:ln/>
        </p:spPr>
      </p:sp>
      <p:sp>
        <p:nvSpPr>
          <p:cNvPr id="22" name="Text 19"/>
          <p:cNvSpPr/>
          <p:nvPr/>
        </p:nvSpPr>
        <p:spPr>
          <a:xfrm>
            <a:off x="545939" y="4011439"/>
            <a:ext cx="19935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4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1310134" y="4032126"/>
            <a:ext cx="3908747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Phase 4 — Global Reach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310134" y="4314527"/>
            <a:ext cx="3908747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Multi-language support, regional vendor integrations, and enterprise deployment options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8299"/>
            <a:ext cx="8151763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Conclusion</a:t>
            </a:r>
            <a:endParaRPr lang="en-US" sz="2350" dirty="0"/>
          </a:p>
        </p:txBody>
      </p:sp>
      <p:sp>
        <p:nvSpPr>
          <p:cNvPr id="3" name="Shape 1"/>
          <p:cNvSpPr/>
          <p:nvPr/>
        </p:nvSpPr>
        <p:spPr>
          <a:xfrm>
            <a:off x="496119" y="1028328"/>
            <a:ext cx="4023568" cy="677987"/>
          </a:xfrm>
          <a:prstGeom prst="roundRect">
            <a:avLst>
              <a:gd name="adj" fmla="val 2695"/>
            </a:avLst>
          </a:prstGeom>
          <a:solidFill>
            <a:srgbClr val="4C5052"/>
          </a:solidFill>
          <a:ln/>
        </p:spPr>
      </p:sp>
      <p:sp>
        <p:nvSpPr>
          <p:cNvPr id="4" name="Text 2"/>
          <p:cNvSpPr/>
          <p:nvPr/>
        </p:nvSpPr>
        <p:spPr>
          <a:xfrm>
            <a:off x="617934" y="1150144"/>
            <a:ext cx="3779937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Digitized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17934" y="1403300"/>
            <a:ext cx="3779937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Replaces physical warranty cards with a secure digital system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624313" y="1028328"/>
            <a:ext cx="4023568" cy="677987"/>
          </a:xfrm>
          <a:prstGeom prst="roundRect">
            <a:avLst>
              <a:gd name="adj" fmla="val 2695"/>
            </a:avLst>
          </a:prstGeom>
          <a:solidFill>
            <a:srgbClr val="4C5052"/>
          </a:solidFill>
          <a:ln/>
        </p:spPr>
      </p:sp>
      <p:sp>
        <p:nvSpPr>
          <p:cNvPr id="7" name="Text 5"/>
          <p:cNvSpPr/>
          <p:nvPr/>
        </p:nvSpPr>
        <p:spPr>
          <a:xfrm>
            <a:off x="4746129" y="1150144"/>
            <a:ext cx="3779937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📦</a:t>
            </a:r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Organized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746129" y="1403300"/>
            <a:ext cx="3779937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Centralized dashboard for all products and warranty documents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96119" y="1810941"/>
            <a:ext cx="4023568" cy="859185"/>
          </a:xfrm>
          <a:prstGeom prst="roundRect">
            <a:avLst>
              <a:gd name="adj" fmla="val 2127"/>
            </a:avLst>
          </a:prstGeom>
          <a:solidFill>
            <a:srgbClr val="4C5052"/>
          </a:solidFill>
          <a:ln/>
        </p:spPr>
      </p:sp>
      <p:sp>
        <p:nvSpPr>
          <p:cNvPr id="10" name="Text 8"/>
          <p:cNvSpPr/>
          <p:nvPr/>
        </p:nvSpPr>
        <p:spPr>
          <a:xfrm>
            <a:off x="617934" y="1932756"/>
            <a:ext cx="3779937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⏰</a:t>
            </a:r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Proactive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17934" y="2185913"/>
            <a:ext cx="3779937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reminders prevent missed service and warranty claims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24313" y="1810941"/>
            <a:ext cx="4023568" cy="859185"/>
          </a:xfrm>
          <a:prstGeom prst="roundRect">
            <a:avLst>
              <a:gd name="adj" fmla="val 2127"/>
            </a:avLst>
          </a:prstGeom>
          <a:solidFill>
            <a:srgbClr val="4C5052"/>
          </a:solidFill>
          <a:ln/>
        </p:spPr>
      </p:sp>
      <p:sp>
        <p:nvSpPr>
          <p:cNvPr id="13" name="Text 11"/>
          <p:cNvSpPr/>
          <p:nvPr/>
        </p:nvSpPr>
        <p:spPr>
          <a:xfrm>
            <a:off x="4746129" y="1932756"/>
            <a:ext cx="3779937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🔒</a:t>
            </a:r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Secure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746129" y="2185913"/>
            <a:ext cx="3779937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Authentication and encrypted storage protect user data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96119" y="2787848"/>
            <a:ext cx="14288" cy="597768"/>
          </a:xfrm>
          <a:prstGeom prst="roundRect">
            <a:avLst>
              <a:gd name="adj" fmla="val 59998"/>
            </a:avLst>
          </a:prstGeom>
          <a:solidFill>
            <a:srgbClr val="AC9EF5"/>
          </a:solidFill>
          <a:ln/>
        </p:spPr>
      </p:sp>
      <p:sp>
        <p:nvSpPr>
          <p:cNvPr id="16" name="Text 14"/>
          <p:cNvSpPr/>
          <p:nvPr/>
        </p:nvSpPr>
        <p:spPr>
          <a:xfrm>
            <a:off x="678805" y="2905571"/>
            <a:ext cx="7969076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project demonstrates practical software engineering — combining OCR, web development, and database design to solve a real consumer problem.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96119" y="3542705"/>
            <a:ext cx="8151763" cy="525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Thank You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496119" y="4225082"/>
            <a:ext cx="8151763" cy="48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spcAft>
                <a:spcPts val="900"/>
              </a:spcAft>
              <a:buNone/>
            </a:pPr>
            <a:r>
              <a:rPr lang="en-US" sz="950" i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Himshikar Capstone Project · Smart Warranty &amp; Product Service Tracker</a:t>
            </a:r>
            <a:endParaRPr lang="en-US" sz="9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GitHub: </a:t>
            </a:r>
            <a:pPr algn="l" indent="0" marL="0">
              <a:lnSpc>
                <a:spcPct val="124000"/>
              </a:lnSpc>
              <a:buNone/>
            </a:pPr>
            <a:r>
              <a:rPr lang="en-US" sz="950" b="1" u="sng" dirty="0">
                <a:solidFill>
                  <a:srgbClr val="AC9EF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https://github.com/Tulika1910/Smart_Warranty_and_Product_Service_Tracker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AC9EF5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2026-07-07T15:44:10Z</dcterms:created>
  <dcterms:modified xsi:type="dcterms:W3CDTF">2026-07-07T15:44:10Z</dcterms:modified>
</cp:coreProperties>
</file>